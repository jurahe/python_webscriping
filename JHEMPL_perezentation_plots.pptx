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9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E9EA3-69CA-41D2-8FA7-1A6FBB027946}" type="datetimeFigureOut">
              <a:rPr lang="cs-CZ" smtClean="0"/>
              <a:t>29.12.2025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1DF60-F495-470A-9540-1E91724C16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272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DF60-F495-470A-9540-1E91724C1614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51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4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777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25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5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9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1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06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9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7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16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82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93981B-CFE7-FE16-E243-D5359B7DF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cap="none" dirty="0">
                <a:latin typeface="+mn-lt"/>
              </a:rPr>
              <a:t>Analýza pronájmu bytů ve Zlíně – grafové vyjádření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4DCC3BD-AC9A-9AD0-1F85-AA3A83107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Zpracoval: Jiří Hempl</a:t>
            </a:r>
          </a:p>
        </p:txBody>
      </p:sp>
    </p:spTree>
    <p:extLst>
      <p:ext uri="{BB962C8B-B14F-4D97-AF65-F5344CB8AC3E}">
        <p14:creationId xmlns:p14="http://schemas.microsoft.com/office/powerpoint/2010/main" val="1750863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9A6806-2C91-13EF-F4D0-7E02B022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300" b="1" dirty="0"/>
              <a:t>Základní údaje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D2A9A9-2AA5-E44F-647A-56797E32A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/>
          <a:lstStyle/>
          <a:p>
            <a:r>
              <a:rPr lang="cs-CZ" dirty="0"/>
              <a:t>Analyzovaná data ke dni 22. 12. 2025</a:t>
            </a:r>
          </a:p>
          <a:p>
            <a:r>
              <a:rPr lang="cs-CZ" dirty="0"/>
              <a:t>Město: Zlín a jeho okolí</a:t>
            </a:r>
          </a:p>
          <a:p>
            <a:r>
              <a:rPr lang="cs-CZ" dirty="0"/>
              <a:t>Počet analyzovaných inzerátů: 211 z celkem 222 inzerátů.</a:t>
            </a:r>
          </a:p>
          <a:p>
            <a:r>
              <a:rPr lang="cs-CZ" dirty="0"/>
              <a:t>Kategorie analyzovaných bytů:</a:t>
            </a:r>
          </a:p>
          <a:p>
            <a:pPr lvl="1"/>
            <a:r>
              <a:rPr lang="cs-CZ" dirty="0"/>
              <a:t>Pokoje</a:t>
            </a:r>
          </a:p>
          <a:p>
            <a:pPr lvl="1"/>
            <a:r>
              <a:rPr lang="cs-CZ" dirty="0"/>
              <a:t>1+kk, 1+1</a:t>
            </a:r>
          </a:p>
          <a:p>
            <a:pPr lvl="1"/>
            <a:r>
              <a:rPr lang="cs-CZ" dirty="0"/>
              <a:t>2+kk, 2+1</a:t>
            </a:r>
          </a:p>
          <a:p>
            <a:pPr lvl="1"/>
            <a:r>
              <a:rPr lang="cs-CZ" dirty="0"/>
              <a:t>3+kk, 3+1</a:t>
            </a:r>
          </a:p>
          <a:p>
            <a:pPr lvl="1"/>
            <a:r>
              <a:rPr lang="cs-CZ" dirty="0"/>
              <a:t>4+kk, 4+1</a:t>
            </a:r>
          </a:p>
        </p:txBody>
      </p:sp>
    </p:spTree>
    <p:extLst>
      <p:ext uri="{BB962C8B-B14F-4D97-AF65-F5344CB8AC3E}">
        <p14:creationId xmlns:p14="http://schemas.microsoft.com/office/powerpoint/2010/main" val="4020818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6B0354-F54B-A517-0C7B-A520E9071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46375"/>
          </a:xfrm>
        </p:spPr>
        <p:txBody>
          <a:bodyPr>
            <a:normAutofit fontScale="90000"/>
          </a:bodyPr>
          <a:lstStyle/>
          <a:p>
            <a:br>
              <a:rPr lang="cs-CZ" cap="none" dirty="0"/>
            </a:br>
            <a:r>
              <a:rPr lang="cs-CZ" dirty="0"/>
              <a:t>1. P</a:t>
            </a:r>
            <a:r>
              <a:rPr lang="cs-CZ" b="1" dirty="0"/>
              <a:t>růměrná cena bytů, uveďte medián pro srovnání.</a:t>
            </a:r>
            <a:endParaRPr lang="cs-CZ" cap="none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59A6B9-DB75-C184-B85F-AB3FCC74F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Průměrná cena</a:t>
            </a:r>
            <a:r>
              <a:rPr lang="cs-CZ" dirty="0"/>
              <a:t> pronájmu bytu je 14963 Kč, kdežto </a:t>
            </a:r>
            <a:r>
              <a:rPr lang="cs-CZ" b="1" dirty="0">
                <a:solidFill>
                  <a:schemeClr val="tx1"/>
                </a:solidFill>
              </a:rPr>
              <a:t>medián</a:t>
            </a:r>
            <a:r>
              <a:rPr lang="cs-CZ" dirty="0"/>
              <a:t> je 14000 Kč.</a:t>
            </a:r>
          </a:p>
          <a:p>
            <a:r>
              <a:rPr lang="cs-CZ" dirty="0"/>
              <a:t>Průměr je vyšší než medián o 963 Kč (6.88 %).</a:t>
            </a:r>
            <a:br>
              <a:rPr lang="cs-CZ" dirty="0"/>
            </a:br>
            <a:endParaRPr lang="cs-CZ" dirty="0"/>
          </a:p>
          <a:p>
            <a:r>
              <a:rPr lang="cs-CZ" dirty="0"/>
              <a:t> </a:t>
            </a:r>
          </a:p>
          <a:p>
            <a:pPr marL="0" indent="0">
              <a:buNone/>
            </a:pPr>
            <a:r>
              <a:rPr lang="cs-CZ" sz="1800" i="1" dirty="0"/>
              <a:t>Nižší hodnota mediánu oproti průměru naznačuje, že více než polovina bytů má nájem nižší než průměrná cena; jde o levné a středně drahé byty. Průměrná cena bytu je ovlivněna menším počtem (extrémně vůči průměrné ceně) vysokých nájmů, které tuto zvyšují.</a:t>
            </a:r>
            <a:endParaRPr lang="cs-CZ" sz="18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4211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934435-A753-A6BA-DDD7-81E8506E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941" y="440008"/>
            <a:ext cx="9707456" cy="1049235"/>
          </a:xfrm>
        </p:spPr>
        <p:txBody>
          <a:bodyPr>
            <a:noAutofit/>
          </a:bodyPr>
          <a:lstStyle/>
          <a:p>
            <a:r>
              <a:rPr lang="cs-CZ" sz="4300" b="1" cap="none" dirty="0"/>
              <a:t>2. Průměrná cena bytů pro každou dispozici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C36B809-7EDB-BB98-1C95-CBA0668CB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646" y="2015732"/>
            <a:ext cx="5226871" cy="3450613"/>
          </a:xfrm>
        </p:spPr>
        <p:txBody>
          <a:bodyPr>
            <a:normAutofit fontScale="92500" lnSpcReduction="20000"/>
          </a:bodyPr>
          <a:lstStyle/>
          <a:p>
            <a:r>
              <a:rPr lang="cs-CZ" i="1" dirty="0"/>
              <a:t>Průměrná výše nájmu u bytu s dispozicí 3+kk se nachází nad 21 tis Kč, jde o cenu výrazně vysoko nad průměrem (14 963 Kč);  </a:t>
            </a:r>
          </a:p>
          <a:p>
            <a:r>
              <a:rPr lang="cs-CZ" i="1" dirty="0"/>
              <a:t>Nabízená cena pronájmu za 3+kk je o 2 954 Kč dražší než za byt 4+kk, ačkoli 4+kk je v průměru o 5 m2 větší. </a:t>
            </a:r>
          </a:p>
          <a:p>
            <a:r>
              <a:rPr lang="cs-CZ" i="1" dirty="0"/>
              <a:t>Byty s dispozicí 3+1 a 4+1 mají podobnou průměrnou cenu, liší se cca 300 Kč, přičemž rozdíl v m2 je 30 m2 v prospěch bytu 4+kk. </a:t>
            </a:r>
          </a:p>
          <a:p>
            <a:r>
              <a:rPr lang="cs-CZ" i="1" dirty="0"/>
              <a:t>Nejblíže k průměrné ceně má byt s dispozicí 2+1. S ohledem na výsledek otázky č. 1 lze konstatovat, že pokoje, byty s dispozicí 1+kk, 1+1, 2+1 tvoří cca 50 % všech nabídek.</a:t>
            </a:r>
          </a:p>
          <a:p>
            <a:endParaRPr lang="en-US" dirty="0"/>
          </a:p>
        </p:txBody>
      </p:sp>
      <p:pic>
        <p:nvPicPr>
          <p:cNvPr id="7" name="Zástupný obsah 6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6E4B264C-3D04-7AF6-68AE-FA43A537B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65" y="1869391"/>
            <a:ext cx="5941735" cy="374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89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69B210-0986-E07B-246C-F25D4F4E8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634947"/>
            <a:ext cx="10818222" cy="725378"/>
          </a:xfrm>
        </p:spPr>
        <p:txBody>
          <a:bodyPr>
            <a:normAutofit fontScale="90000"/>
          </a:bodyPr>
          <a:lstStyle/>
          <a:p>
            <a:r>
              <a:rPr lang="cs-CZ" b="1" dirty="0"/>
              <a:t>3. Průměrná velikost bytu pro každou dispozici</a:t>
            </a:r>
            <a:br>
              <a:rPr lang="cs-CZ" sz="2600" dirty="0"/>
            </a:br>
            <a:endParaRPr lang="cs-CZ" sz="26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83C465-EB53-B4CA-E2B1-1BC2AC0F7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cs-CZ" i="1" dirty="0"/>
              <a:t>Minimální rozdíl v rozloze bytu je mezi 1+kk a 1+1, rozdíl je v průměru o 4 m v prospěch bytu 1+1. </a:t>
            </a:r>
          </a:p>
          <a:p>
            <a:r>
              <a:rPr lang="cs-CZ" i="1" dirty="0"/>
              <a:t>U bytů 2+kk a 2+1 je to 6 m. Naopak největší rozdíl je mezi byty 3+kk a 3+1, v průměru 16m2.</a:t>
            </a:r>
          </a:p>
          <a:p>
            <a:br>
              <a:rPr lang="cs-CZ" dirty="0"/>
            </a:br>
            <a:endParaRPr lang="cs-CZ" dirty="0"/>
          </a:p>
          <a:p>
            <a:endParaRPr lang="en-US" dirty="0"/>
          </a:p>
        </p:txBody>
      </p:sp>
      <p:pic>
        <p:nvPicPr>
          <p:cNvPr id="7" name="Obrázek 6" descr="Obsah obrázku text, snímek obrazovky, diagram, řada/pruh&#10;&#10;Obsah generovaný pomocí AI může být nesprávný.">
            <a:extLst>
              <a:ext uri="{FF2B5EF4-FFF2-40B4-BE49-F238E27FC236}">
                <a16:creationId xmlns:a16="http://schemas.microsoft.com/office/drawing/2014/main" id="{796618B1-6827-8B15-F757-107B84661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2" y="1825547"/>
            <a:ext cx="7254344" cy="394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0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6F1448-5F67-A6B4-EA75-DCC3100E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4. Ulice, kde jsou vyšší koncentrace dražších bytů </a:t>
            </a:r>
            <a:r>
              <a:rPr lang="cs-CZ" sz="3600" dirty="0"/>
              <a:t>(tabulkový přehled)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3C32DA-E508-1B92-E028-EA5953A70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cs-CZ" dirty="0"/>
              <a:t>	</a:t>
            </a:r>
            <a:r>
              <a:rPr lang="cs-CZ" sz="2400" b="1" u="sng" dirty="0"/>
              <a:t>Ulice			Cena pronájmu</a:t>
            </a:r>
          </a:p>
          <a:p>
            <a:pPr marL="201168" lvl="1" indent="0">
              <a:buNone/>
            </a:pPr>
            <a:r>
              <a:rPr lang="cs-CZ" dirty="0"/>
              <a:t>	</a:t>
            </a:r>
            <a:r>
              <a:rPr lang="cs-CZ" sz="2400" dirty="0"/>
              <a:t>Sýkory II         			29 000.0</a:t>
            </a:r>
          </a:p>
          <a:p>
            <a:r>
              <a:rPr lang="cs-CZ" sz="2400" dirty="0"/>
              <a:t>    	Jarolímkovo náměstí   		25 000.0</a:t>
            </a:r>
          </a:p>
          <a:p>
            <a:r>
              <a:rPr lang="cs-CZ" sz="2400" dirty="0"/>
              <a:t>   	Kpt. Nálepky         		24 000.0</a:t>
            </a:r>
          </a:p>
          <a:p>
            <a:r>
              <a:rPr lang="cs-CZ" sz="2400" dirty="0"/>
              <a:t>    	Mostní         			23 333.0</a:t>
            </a:r>
          </a:p>
          <a:p>
            <a:r>
              <a:rPr lang="cs-CZ" sz="2400" dirty="0"/>
              <a:t>    	Benešovo nábřeží        		22 250.0</a:t>
            </a:r>
          </a:p>
          <a:p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44AE157-FE14-DFF0-1B67-A7F24F8EA305}"/>
              </a:ext>
            </a:extLst>
          </p:cNvPr>
          <p:cNvSpPr txBox="1"/>
          <p:nvPr/>
        </p:nvSpPr>
        <p:spPr>
          <a:xfrm>
            <a:off x="871537" y="5120641"/>
            <a:ext cx="10448925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cs-CZ" b="0" i="1" dirty="0">
                <a:effectLst/>
              </a:rPr>
              <a:t>Cena pronájmu bytu může být závislá na lokalitě, vybavenosti bytu, dostupnosti veřejné vybavenosti, přístupem k přírodě, bezpečnostní situací dané lokality, stavu nemovitosti atd.</a:t>
            </a:r>
          </a:p>
        </p:txBody>
      </p:sp>
    </p:spTree>
    <p:extLst>
      <p:ext uri="{BB962C8B-B14F-4D97-AF65-F5344CB8AC3E}">
        <p14:creationId xmlns:p14="http://schemas.microsoft.com/office/powerpoint/2010/main" val="1235612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48C5B3-4577-2F61-A257-D384FEEE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96" y="339671"/>
            <a:ext cx="10816046" cy="1450757"/>
          </a:xfrm>
        </p:spPr>
        <p:txBody>
          <a:bodyPr>
            <a:normAutofit/>
          </a:bodyPr>
          <a:lstStyle/>
          <a:p>
            <a:r>
              <a:rPr lang="cs-CZ" sz="4300" dirty="0"/>
              <a:t>5. </a:t>
            </a:r>
            <a:r>
              <a:rPr lang="cs-CZ" sz="4300" b="1" dirty="0"/>
              <a:t>Typ dispozice je v daném městě nejčastěji inzerován</a:t>
            </a:r>
            <a:endParaRPr lang="cs-CZ" sz="43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9AF6072-D2C4-4BE1-09AE-EEEBFCE54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551" y="1934150"/>
            <a:ext cx="4863192" cy="4295200"/>
          </a:xfrm>
        </p:spPr>
        <p:txBody>
          <a:bodyPr>
            <a:normAutofit fontScale="55000" lnSpcReduction="20000"/>
          </a:bodyPr>
          <a:lstStyle/>
          <a:p>
            <a:br>
              <a:rPr lang="cs-CZ" sz="2900" dirty="0"/>
            </a:br>
            <a:r>
              <a:rPr lang="cs-CZ" sz="2900" i="1" dirty="0"/>
              <a:t>Nejvíce nabízených bytů jsou byty s dispozicí 1+kk (48 inzerátů, 22,75 %) a 2+kk (42 inzerátů, 19,91 %) dohromady tvoří cca 42 % všech nabídek. </a:t>
            </a:r>
          </a:p>
          <a:p>
            <a:r>
              <a:rPr lang="cs-CZ" sz="2900" i="1" dirty="0"/>
              <a:t>Menší dispozice obecně dominují v nabídce, což může být vysvětlováno tím, že tyto jednotky jsou obecně atraktivnější pro širší skupinu potenciálních nájemců a tvoří tak podstatnou část trhu.</a:t>
            </a:r>
          </a:p>
          <a:p>
            <a:r>
              <a:rPr lang="cs-CZ" sz="2900" i="1" dirty="0"/>
              <a:t>Pokud jde o otázku "Proč je nejvíce nabízených bytů s dispozicemi 1+kk, 2+kk, lze říci následující:</a:t>
            </a:r>
          </a:p>
          <a:p>
            <a:r>
              <a:rPr lang="cs-CZ" sz="2900" i="1" dirty="0"/>
              <a:t>- z pohledu pronajímatele může jít o zohlednění atraktivity těchto dispozic ze strany zájemců (</a:t>
            </a:r>
            <a:r>
              <a:rPr lang="cs-CZ" sz="2900" i="1" dirty="0" err="1"/>
              <a:t>singles</a:t>
            </a:r>
            <a:r>
              <a:rPr lang="cs-CZ" sz="2900" i="1" dirty="0"/>
              <a:t>, mladé páry, studenti, dojíždějící pracující), z tohoto důvodu to může být pro ně výhodná investiční příležitost: menší byty se snadněji pronajímají</a:t>
            </a:r>
          </a:p>
          <a:p>
            <a:r>
              <a:rPr lang="cs-CZ" sz="2900" i="1" dirty="0"/>
              <a:t>- z pohledu zájemců (</a:t>
            </a:r>
            <a:r>
              <a:rPr lang="cs-CZ" sz="2900" i="1" dirty="0" err="1"/>
              <a:t>singles</a:t>
            </a:r>
            <a:r>
              <a:rPr lang="cs-CZ" sz="2900" i="1" dirty="0"/>
              <a:t>, mladé páry, studenti, dojíždějící pracující; lidi s omezeným rozpočtem atd. ) jde o vhodný způsob bydlení, a to z hlediska ceny a užitnosti bytu.</a:t>
            </a:r>
          </a:p>
          <a:p>
            <a:endParaRPr lang="en-US" dirty="0"/>
          </a:p>
        </p:txBody>
      </p:sp>
      <p:pic>
        <p:nvPicPr>
          <p:cNvPr id="7" name="Obrázek 6" descr="Obsah obrázku text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195B0CC1-29ED-100F-AB81-4DD73E685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27" y="1934150"/>
            <a:ext cx="6139155" cy="419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75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BF18B2-FFF5-425A-F909-81D594B2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/>
              <a:t>6. Inzerce bytů, které stojí více než 20 000 Kč</a:t>
            </a:r>
            <a:br>
              <a:rPr lang="cs-CZ" b="1" dirty="0"/>
            </a:br>
            <a:r>
              <a:rPr lang="cs-CZ" dirty="0"/>
              <a:t>(tabulkový přehled)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3CFD10-F94C-4995-A98A-5A419E6AA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897591"/>
          </a:xfrm>
        </p:spPr>
        <p:txBody>
          <a:bodyPr/>
          <a:lstStyle/>
          <a:p>
            <a:r>
              <a:rPr lang="cs-CZ" sz="1800" b="1" u="sng" dirty="0"/>
              <a:t>Město	            Ulice	    Dispozice    Rozměry bytu (m2)	Cena pronájmu (Kč/měsíc</a:t>
            </a:r>
            <a:r>
              <a:rPr lang="cs-CZ" dirty="0"/>
              <a:t>)	</a:t>
            </a:r>
          </a:p>
          <a:p>
            <a:r>
              <a:rPr lang="cs-CZ" dirty="0"/>
              <a:t>Luhačovice     Masarykova    2+kk	        70	             		25 000.0</a:t>
            </a:r>
          </a:p>
          <a:p>
            <a:r>
              <a:rPr lang="cs-CZ" dirty="0"/>
              <a:t>Zlín – Louky    Zadní luhy	    2+kk            62	              		21 000.0	</a:t>
            </a:r>
          </a:p>
          <a:p>
            <a:r>
              <a:rPr lang="cs-CZ" dirty="0"/>
              <a:t>Zlín	          Nivy II	    2+1	        120	              		20 500.0	</a:t>
            </a:r>
          </a:p>
          <a:p>
            <a:endParaRPr lang="cs-CZ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3319E5AF-FE8D-ECB0-1542-DC2DF62E07C7}"/>
              </a:ext>
            </a:extLst>
          </p:cNvPr>
          <p:cNvSpPr txBox="1"/>
          <p:nvPr/>
        </p:nvSpPr>
        <p:spPr>
          <a:xfrm>
            <a:off x="552450" y="4199395"/>
            <a:ext cx="10717530" cy="1842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cs-CZ" b="0" i="1" dirty="0">
                <a:effectLst/>
              </a:rPr>
              <a:t>Jedná se byty 2+kk a 2+1, skupin, které dohromady tvoří nejvíce nabídek. </a:t>
            </a:r>
          </a:p>
          <a:p>
            <a:pPr>
              <a:lnSpc>
                <a:spcPts val="1650"/>
              </a:lnSpc>
              <a:buNone/>
            </a:pPr>
            <a:r>
              <a:rPr lang="cs-CZ" b="0" i="1" dirty="0">
                <a:effectLst/>
              </a:rPr>
              <a:t>Cena pronájmu bytu může být závislá na lokalitě, vybavenosti bytu, dostupnosti veřejné vybavenosti, přístupem k přírodě, bezpečnostní situací dané lokality, stav nemovitosti  atd.</a:t>
            </a:r>
          </a:p>
          <a:p>
            <a:pPr>
              <a:lnSpc>
                <a:spcPts val="1650"/>
              </a:lnSpc>
              <a:buNone/>
            </a:pPr>
            <a:br>
              <a:rPr lang="cs-CZ" b="0" i="1" dirty="0">
                <a:effectLst/>
              </a:rPr>
            </a:br>
            <a:endParaRPr lang="cs-CZ" b="0" i="1" dirty="0">
              <a:effectLst/>
            </a:endParaRPr>
          </a:p>
          <a:p>
            <a:pPr>
              <a:lnSpc>
                <a:spcPts val="1650"/>
              </a:lnSpc>
              <a:buNone/>
            </a:pPr>
            <a:r>
              <a:rPr lang="cs-CZ" b="1" i="1" dirty="0">
                <a:effectLst/>
              </a:rPr>
              <a:t>! Poznámka</a:t>
            </a:r>
            <a:r>
              <a:rPr lang="cs-CZ" b="1" i="1" dirty="0"/>
              <a:t>:</a:t>
            </a:r>
            <a:r>
              <a:rPr lang="cs-CZ" i="1" dirty="0"/>
              <a:t> </a:t>
            </a:r>
          </a:p>
          <a:p>
            <a:pPr>
              <a:lnSpc>
                <a:spcPts val="1650"/>
              </a:lnSpc>
              <a:buNone/>
            </a:pPr>
            <a:r>
              <a:rPr lang="cs-CZ" b="0" i="1" dirty="0">
                <a:effectLst/>
              </a:rPr>
              <a:t>Byt pod bodem (index 1) má rozměr 120 m2. Zde je otázka jde o správný údaj anebo překlep. Původní údaj ponechán</a:t>
            </a:r>
            <a:r>
              <a:rPr lang="cs-CZ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cs-CZ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148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A7F817-85F0-85EA-27D5-79072D514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634946"/>
            <a:ext cx="10740117" cy="650929"/>
          </a:xfrm>
        </p:spPr>
        <p:txBody>
          <a:bodyPr>
            <a:noAutofit/>
          </a:bodyPr>
          <a:lstStyle/>
          <a:p>
            <a:r>
              <a:rPr lang="cs-CZ" sz="4300" b="1" dirty="0"/>
              <a:t>7. Rozdíly mezi minimální a maximální cenou</a:t>
            </a:r>
          </a:p>
        </p:txBody>
      </p:sp>
      <p:pic>
        <p:nvPicPr>
          <p:cNvPr id="5" name="Zástupný obsah 4" descr="Obsah obrázku text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3EBD2D38-E7B8-A477-C61B-96FC37AC3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71" y="2060623"/>
            <a:ext cx="6909801" cy="411344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C5B54E-78A0-FC1E-9B93-00022C2C3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cs-CZ" i="1" dirty="0"/>
              <a:t>Největší rozdíl cen v pronájmech je by bytů 3+kk, nejmenší u bytů s dispozicí 4+kk. </a:t>
            </a:r>
          </a:p>
          <a:p>
            <a:r>
              <a:rPr lang="cs-CZ" i="1" dirty="0"/>
              <a:t>Rozdíl v cenách může být způsobena: lokalitou, vybaveností bytu, dostupností veřejné vybavenosti, přístupem k přírodě, bezpečnostní situací dané lokality atd.</a:t>
            </a:r>
          </a:p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87CE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24880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Retrospektiva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</TotalTime>
  <Words>844</Words>
  <Application>Microsoft Office PowerPoint</Application>
  <PresentationFormat>Širokoúhlá obrazovka</PresentationFormat>
  <Paragraphs>54</Paragraphs>
  <Slides>9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Aptos</vt:lpstr>
      <vt:lpstr>Calibri</vt:lpstr>
      <vt:lpstr>Calibri Light</vt:lpstr>
      <vt:lpstr>Consolas</vt:lpstr>
      <vt:lpstr>Retrospektiva</vt:lpstr>
      <vt:lpstr>Analýza pronájmu bytů ve Zlíně – grafové vyjádření</vt:lpstr>
      <vt:lpstr>Základní údaje</vt:lpstr>
      <vt:lpstr> 1. Průměrná cena bytů, uveďte medián pro srovnání.</vt:lpstr>
      <vt:lpstr>2. Průměrná cena bytů pro každou dispozici </vt:lpstr>
      <vt:lpstr>3. Průměrná velikost bytu pro každou dispozici </vt:lpstr>
      <vt:lpstr>4. Ulice, kde jsou vyšší koncentrace dražších bytů (tabulkový přehled)</vt:lpstr>
      <vt:lpstr>5. Typ dispozice je v daném městě nejčastěji inzerován</vt:lpstr>
      <vt:lpstr>6. Inzerce bytů, které stojí více než 20 000 Kč (tabulkový přehled)</vt:lpstr>
      <vt:lpstr>7. Rozdíly mezi minimální a maximální cenou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Jiří Hempl</dc:creator>
  <cp:lastModifiedBy>Jiří Hempl</cp:lastModifiedBy>
  <cp:revision>14</cp:revision>
  <dcterms:created xsi:type="dcterms:W3CDTF">2025-12-29T07:28:39Z</dcterms:created>
  <dcterms:modified xsi:type="dcterms:W3CDTF">2025-12-29T08:47:06Z</dcterms:modified>
</cp:coreProperties>
</file>